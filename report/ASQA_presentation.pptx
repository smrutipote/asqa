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9" r:id="rId3"/>
    <p:sldId id="261" r:id="rId4"/>
    <p:sldId id="262" r:id="rId5"/>
    <p:sldId id="264" r:id="rId6"/>
    <p:sldId id="265" r:id="rId7"/>
    <p:sldId id="266" r:id="rId8"/>
    <p:sldId id="267" r:id="rId9"/>
    <p:sldId id="269" r:id="rId10"/>
    <p:sldId id="270" r:id="rId11"/>
    <p:sldId id="27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46"/>
  </p:normalViewPr>
  <p:slideViewPr>
    <p:cSldViewPr snapToGrid="0" snapToObjects="1">
      <p:cViewPr varScale="1">
        <p:scale>
          <a:sx n="108" d="100"/>
          <a:sy n="108" d="100"/>
        </p:scale>
        <p:origin x="76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397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73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501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303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96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63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456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391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582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52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890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629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108960"/>
            <a:ext cx="12191695" cy="18288"/>
          </a:xfrm>
          <a:prstGeom prst="rect">
            <a:avLst/>
          </a:prstGeom>
          <a:solidFill>
            <a:srgbClr val="E28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ASQA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0">
                <a:solidFill>
                  <a:srgbClr val="CFE3E7"/>
                </a:solidFill>
                <a:latin typeface="Calibri"/>
              </a:rPr>
              <a:t>Autonomous Software Quality Assurance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A Multi-Agent LLM Pipeline for Bug Detection,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Test Generation, and Fix Suggestion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Smruti Pote   |   x24269522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CFE3E7"/>
                </a:solidFill>
                <a:latin typeface="Calibri"/>
              </a:rPr>
              <a:t>MSc Artificial Intelligence  —  National College of Ireland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Research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Calibri"/>
              </a:rPr>
              <a:t>ASQA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10332720" cy="23774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10332720" cy="1097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96012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Will a multi-agent LLM pipeline, specialised in QA subtasks and coordinated by LangGraph, achieve a Bug Detection Rate &gt; 60% and a Mean Time to Report &lt; 120 seconds — outperforming single-agent baselines?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4846320"/>
            <a:ext cx="3200400" cy="100584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BDR &gt; 60%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4846320"/>
            <a:ext cx="3200400" cy="1005840"/>
          </a:xfrm>
          <a:prstGeom prst="roundRect">
            <a:avLst/>
          </a:prstGeom>
          <a:solidFill>
            <a:srgbClr val="E28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MTTR &lt; 120 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4846320"/>
            <a:ext cx="3200400" cy="100584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Reliability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ASQA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CFE3E7"/>
                </a:solidFill>
                <a:latin typeface="Calibri"/>
              </a:rPr>
              <a:t>Five specialised agents on a LangGraph state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Calibri"/>
              </a:rPr>
              <a:t>ASQA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" y="2194560"/>
            <a:ext cx="2157984" cy="2011680"/>
          </a:xfrm>
          <a:prstGeom prst="rect">
            <a:avLst/>
          </a:prstGeom>
          <a:solidFill>
            <a:srgbClr val="FFFFFF"/>
          </a:solidFill>
          <a:ln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9768" y="2194560"/>
            <a:ext cx="2157984" cy="3200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2240280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1. Code Reader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97480"/>
            <a:ext cx="19751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GPT-4.1-mini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063240"/>
            <a:ext cx="197510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Calibri"/>
              </a:rPr>
              <a:t>Risk analysis JSON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22042" y="3017520"/>
            <a:ext cx="137160" cy="36576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24912" y="2194560"/>
            <a:ext cx="2157984" cy="2011680"/>
          </a:xfrm>
          <a:prstGeom prst="rect">
            <a:avLst/>
          </a:prstGeom>
          <a:solidFill>
            <a:srgbClr val="FFFFFF"/>
          </a:solidFill>
          <a:ln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24912" y="2194560"/>
            <a:ext cx="2157984" cy="320040"/>
          </a:xfrm>
          <a:prstGeom prst="rect">
            <a:avLst/>
          </a:prstGeom>
          <a:solidFill>
            <a:srgbClr val="E28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16352" y="2240280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2. Test Generator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2697480"/>
            <a:ext cx="19751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Claude Sonnet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2072" y="3063240"/>
            <a:ext cx="197510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Calibri"/>
              </a:rPr>
              <a:t>Executable test file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917186" y="3017520"/>
            <a:ext cx="137160" cy="36576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0056" y="2194560"/>
            <a:ext cx="2157984" cy="2011680"/>
          </a:xfrm>
          <a:prstGeom prst="rect">
            <a:avLst/>
          </a:prstGeom>
          <a:solidFill>
            <a:srgbClr val="FFFFFF"/>
          </a:solidFill>
          <a:ln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0056" y="2194560"/>
            <a:ext cx="2157984" cy="3200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11496" y="2240280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3. Runner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2697480"/>
            <a:ext cx="19751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GPT-4.1-mini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3063240"/>
            <a:ext cx="197510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Calibri"/>
              </a:rPr>
              <a:t>Docker exec + classify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212330" y="3017520"/>
            <a:ext cx="137160" cy="36576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0" y="2194560"/>
            <a:ext cx="2157984" cy="2011680"/>
          </a:xfrm>
          <a:prstGeom prst="rect">
            <a:avLst/>
          </a:prstGeom>
          <a:solidFill>
            <a:srgbClr val="FFFFFF"/>
          </a:solidFill>
          <a:ln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0" y="2194560"/>
            <a:ext cx="2157984" cy="320040"/>
          </a:xfrm>
          <a:prstGeom prst="rect">
            <a:avLst/>
          </a:prstGeom>
          <a:solidFill>
            <a:srgbClr val="E28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06640" y="2240280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4. Bug Reporter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2697480"/>
            <a:ext cx="19751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GPT-4.1-mini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3063240"/>
            <a:ext cx="197510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Calibri"/>
              </a:rPr>
              <a:t>Structured verdict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507474" y="3017520"/>
            <a:ext cx="137160" cy="36576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610344" y="2194560"/>
            <a:ext cx="2157984" cy="2011680"/>
          </a:xfrm>
          <a:prstGeom prst="rect">
            <a:avLst/>
          </a:prstGeom>
          <a:solidFill>
            <a:srgbClr val="FFFFFF"/>
          </a:solidFill>
          <a:ln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610344" y="2194560"/>
            <a:ext cx="2157984" cy="3200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01784" y="2240280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5. Fix Suggester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47504" y="2697480"/>
            <a:ext cx="19751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Claude Sonnet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7504" y="3063240"/>
            <a:ext cx="197510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Calibri"/>
              </a:rPr>
              <a:t>Unified diff patch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28D1F"/>
                </a:solidFill>
                <a:latin typeface="Calibri"/>
              </a:rPr>
              <a:t>↺  Retry edge: Runner → Test Generator on execution_error (≤ 2×)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029200"/>
            <a:ext cx="11247120" cy="1463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Calibri"/>
              </a:rPr>
              <a:t>Why multi-agent?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486400"/>
            <a:ext cx="10972800" cy="10972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B1F3A"/>
                </a:solidFill>
                <a:latin typeface="Calibri"/>
              </a:rPr>
              <a:t>•  Isolates each output format → fewer parse failures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1F3A"/>
                </a:solidFill>
                <a:latin typeface="Calibri"/>
              </a:rPr>
              <a:t>•  Conditional edges enable reliable retries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1F3A"/>
                </a:solidFill>
                <a:latin typeface="Calibri"/>
              </a:rPr>
              <a:t>•  Shared TypedDict state keeps context bounded per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Heterogeneous Model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CFE3E7"/>
                </a:solidFill>
                <a:latin typeface="Calibri"/>
              </a:rPr>
              <a:t>Match the model to the cognitive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Calibri"/>
              </a:rPr>
              <a:t>ASQA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486400" cy="4572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GPT-4.1-mini  (Azure OpenAI)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Used by:  Code Reader, Runner, Bug Reporter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5120640" cy="3200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B1F3A"/>
                </a:solidFill>
                <a:latin typeface="Calibri"/>
              </a:rPr>
              <a:t>•  Fast structured JSON reasoning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1F3A"/>
                </a:solidFill>
                <a:latin typeface="Calibri"/>
              </a:rPr>
              <a:t>•  Large context for diff processing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1F3A"/>
                </a:solidFill>
                <a:latin typeface="Calibri"/>
              </a:rPr>
              <a:t>•  Cost-efficient for high-throughput eval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645920"/>
            <a:ext cx="5486400" cy="4389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645920"/>
            <a:ext cx="5486400" cy="457200"/>
          </a:xfrm>
          <a:prstGeom prst="rect">
            <a:avLst/>
          </a:prstGeom>
          <a:solidFill>
            <a:srgbClr val="E28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71907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Claude Sonnet 4  (Anthropic)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Used by:  Test Generator, Fix Suggester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34640"/>
            <a:ext cx="5120640" cy="3200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B1F3A"/>
                </a:solidFill>
                <a:latin typeface="Calibri"/>
              </a:rPr>
              <a:t>•  High-quality long-form code generation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1F3A"/>
                </a:solidFill>
                <a:latin typeface="Calibri"/>
              </a:rPr>
              <a:t>•  Extended thinking for root-cause analysis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1F3A"/>
                </a:solidFill>
                <a:latin typeface="Calibri"/>
              </a:rPr>
              <a:t>•  Better at minimal, targeted patches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Design principle: exploit complementary strengths instead of a single-model compromise.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Headline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CFE3E7"/>
                </a:solidFill>
                <a:latin typeface="Calibri"/>
              </a:rPr>
              <a:t>ASQA on the 1,500-bug 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Calibri"/>
              </a:rPr>
              <a:t>ASQA</a:t>
            </a:r>
          </a:p>
        </p:txBody>
      </p:sp>
      <p:sp>
        <p:nvSpPr>
          <p:cNvPr id="7" name="Rectangle 6"/>
          <p:cNvSpPr/>
          <p:nvPr/>
        </p:nvSpPr>
        <p:spPr>
          <a:xfrm>
            <a:off x="449427" y="1737360"/>
            <a:ext cx="265176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9427" y="1737360"/>
            <a:ext cx="2651760" cy="1645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427" y="224028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400" b="1">
                <a:solidFill>
                  <a:srgbClr val="0E7C86"/>
                </a:solidFill>
                <a:latin typeface="Calibri"/>
              </a:rP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2461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Calibri"/>
              </a:rPr>
              <a:t>Bug Detection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427" y="3611879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555B66"/>
                </a:solidFill>
                <a:latin typeface="Calibri"/>
              </a:rPr>
              <a:t>Target &gt; 60%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9787" y="1737360"/>
            <a:ext cx="265176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E28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29787" y="1737360"/>
            <a:ext cx="2651760" cy="164592"/>
          </a:xfrm>
          <a:prstGeom prst="rect">
            <a:avLst/>
          </a:prstGeom>
          <a:solidFill>
            <a:srgbClr val="E28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29787" y="224028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400" b="1">
                <a:solidFill>
                  <a:srgbClr val="E28D1F"/>
                </a:solidFill>
                <a:latin typeface="Calibri"/>
              </a:rPr>
              <a:t>50.7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9787" y="32461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Calibri"/>
              </a:rPr>
              <a:t>Mean Time to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9787" y="3611879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555B66"/>
                </a:solidFill>
                <a:latin typeface="Calibri"/>
              </a:rPr>
              <a:t>Target &lt; 120 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0147" y="1737360"/>
            <a:ext cx="265176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0147" y="1737360"/>
            <a:ext cx="2651760" cy="16459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0147" y="224028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400" b="1">
                <a:solidFill>
                  <a:srgbClr val="0B1F3A"/>
                </a:solidFill>
                <a:latin typeface="Calibr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0147" y="32461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Calibri"/>
              </a:rPr>
              <a:t>Completion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7" y="3611879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555B66"/>
                </a:solidFill>
                <a:latin typeface="Calibri"/>
              </a:rPr>
              <a:t>0 failed runs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0507" y="1737360"/>
            <a:ext cx="265176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90507" y="1737360"/>
            <a:ext cx="2651760" cy="1645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90507" y="224028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400" b="1">
                <a:solidFill>
                  <a:srgbClr val="0E7C86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0507" y="32461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Calibri"/>
              </a:rPr>
              <a:t>Artefacts / bug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0507" y="3611879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555B66"/>
                </a:solidFill>
                <a:latin typeface="Calibri"/>
              </a:rPr>
              <a:t>vs. 1 for baselines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480560"/>
            <a:ext cx="10972800" cy="20116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572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Calibri"/>
              </a:rPr>
              <a:t>Reading the numbers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983480"/>
            <a:ext cx="10972800" cy="1554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B1F3A"/>
                </a:solidFill>
                <a:latin typeface="Calibri"/>
              </a:rPr>
              <a:t>•  80% BDR beats the 60% target by +20 pts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1F3A"/>
                </a:solidFill>
                <a:latin typeface="Calibri"/>
              </a:rPr>
              <a:t>•  Median 50.2 s, 90th percentile 67.7 s, range 30.6–86.0 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1F3A"/>
                </a:solidFill>
                <a:latin typeface="Calibri"/>
              </a:rPr>
              <a:t>•  Retry loop activated on 100% of runs — essential reliability mechanism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Outcome Composition vs.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Calibri"/>
              </a:rPr>
              <a:t>ASQA</a:t>
            </a:r>
          </a:p>
        </p:txBody>
      </p:sp>
      <p:pic>
        <p:nvPicPr>
          <p:cNvPr id="6" name="Picture 5" descr="fig_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158981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80960" y="1645920"/>
            <a:ext cx="4206240" cy="4572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0" y="17830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Calibri"/>
              </a:rPr>
              <a:t>What the chart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194560"/>
            <a:ext cx="3931920" cy="4023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B1F3A"/>
                </a:solidFill>
                <a:latin typeface="Calibri"/>
              </a:rPr>
              <a:t>•  ASQA: 1,200 detections + 300 calibrated no_bug verdicts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1F3A"/>
                </a:solidFill>
                <a:latin typeface="Calibri"/>
              </a:rPr>
              <a:t>•  GPT single-agent: flags every input — no discrimination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1F3A"/>
                </a:solidFill>
                <a:latin typeface="Calibri"/>
              </a:rPr>
              <a:t>•  Claude single-agent: 750 runs lost to JSON parse failures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1F3A"/>
                </a:solidFill>
                <a:latin typeface="Calibri"/>
              </a:rPr>
              <a:t>•  Only ASQA produces structured, usable artefacts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Mean Time to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CFE3E7"/>
                </a:solidFill>
                <a:latin typeface="Calibri"/>
              </a:rPr>
              <a:t>All systems below the 120 s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Calibri"/>
              </a:rPr>
              <a:t>ASQA</a:t>
            </a:r>
          </a:p>
        </p:txBody>
      </p:sp>
      <p:pic>
        <p:nvPicPr>
          <p:cNvPr id="7" name="Picture 6" descr="fig_mtt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818294" cy="5120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80960" y="1645920"/>
            <a:ext cx="4206240" cy="4572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17830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Calibri"/>
              </a:rPr>
              <a:t>Latency trade-off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194560"/>
            <a:ext cx="3931920" cy="4023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B1F3A"/>
                </a:solidFill>
                <a:latin typeface="Calibri"/>
              </a:rPr>
              <a:t>•  5 sequential LLM calls + Docker exec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1F3A"/>
                </a:solidFill>
                <a:latin typeface="Calibri"/>
              </a:rPr>
              <a:t>•  ~3× slower than single-agent, still well under budget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1F3A"/>
                </a:solidFill>
                <a:latin typeface="Calibri"/>
              </a:rPr>
              <a:t>•  Cost of 5 rich artefacts, not 1 opaque blob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1F3A"/>
                </a:solidFill>
                <a:latin typeface="Calibri"/>
              </a:rPr>
              <a:t>•  Top optimisation targets: Runner + Test Generator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Where Does the Time Go?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CFE3E7"/>
                </a:solidFill>
                <a:latin typeface="Calibri"/>
              </a:rPr>
              <a:t>Per-agent contribution to the 50.7 s MTTR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Calibri"/>
              </a:rPr>
              <a:t>ASQA</a:t>
            </a:r>
          </a:p>
        </p:txBody>
      </p:sp>
      <p:pic>
        <p:nvPicPr>
          <p:cNvPr id="7" name="Picture 6" descr="fig_agent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8609106" cy="5120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61434" y="1874520"/>
            <a:ext cx="3825766" cy="43434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73633" y="188687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0E7C86"/>
                </a:solidFill>
                <a:latin typeface="Calibri"/>
              </a:rPr>
              <a:t>Bottlenecks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67479" y="2252630"/>
            <a:ext cx="3931920" cy="4023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>
                <a:solidFill>
                  <a:srgbClr val="0B1F3A"/>
                </a:solidFill>
                <a:latin typeface="Calibri"/>
              </a:rPr>
              <a:t>•  Runner dominates — Docker cold-start + retry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0B1F3A"/>
                </a:solidFill>
                <a:latin typeface="Calibri"/>
              </a:rPr>
              <a:t>•  Test Generator second — long-form code output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0B1F3A"/>
                </a:solidFill>
                <a:latin typeface="Calibri"/>
              </a:rPr>
              <a:t>•  Runner + TG ≈ 55% of wall-clock time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0B1F3A"/>
                </a:solidFill>
                <a:latin typeface="Calibri"/>
              </a:rPr>
              <a:t>•  Parallel Code Reader ― TG could shave seconds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Scalability &amp; Throughput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Calibri"/>
              </a:rPr>
              <a:t>ASQA</a:t>
            </a:r>
          </a:p>
        </p:txBody>
      </p:sp>
      <p:pic>
        <p:nvPicPr>
          <p:cNvPr id="6" name="Picture 5" descr="fig_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747941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80960" y="1645920"/>
            <a:ext cx="4206240" cy="4572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0" y="17830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Calibri"/>
              </a:rPr>
              <a:t>Throughput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194560"/>
            <a:ext cx="3931920" cy="4023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B1F3A"/>
                </a:solidFill>
                <a:latin typeface="Calibri"/>
              </a:rPr>
              <a:t>•  ASQA: 71 bugs/hour (single worker)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1F3A"/>
                </a:solidFill>
                <a:latin typeface="Calibri"/>
              </a:rPr>
              <a:t>•  GPT-SL: 219 / hour  •  Claude-SL: 131 / hour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1F3A"/>
                </a:solidFill>
                <a:latin typeface="Calibri"/>
              </a:rPr>
              <a:t>•  Linear — constant per-bug cost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1F3A"/>
                </a:solidFill>
                <a:latin typeface="Calibri"/>
              </a:rPr>
              <a:t>•  Read-only state → trivial horizontal scaling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1F3A"/>
                </a:solidFill>
                <a:latin typeface="Calibri"/>
              </a:rPr>
              <a:t>•  ~3–4 h on 8 workers for full 1,829 corpus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Error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CFE3E7"/>
                </a:solidFill>
                <a:latin typeface="Calibri"/>
              </a:rPr>
              <a:t>What the numbers actually mean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Calibri"/>
              </a:rPr>
              <a:t>ASQA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37160" cy="2286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ASQA — 20% no_bug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55B66"/>
                </a:solidFill>
                <a:latin typeface="Calibri"/>
              </a:rPr>
              <a:t>Reflects calibrated confidence. Many non-detections are stylistic diffs or deprecated APIs, not functional faults.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5486400" cy="2286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137160" cy="2286000"/>
          </a:xfrm>
          <a:prstGeom prst="rect">
            <a:avLst/>
          </a:prstGeom>
          <a:solidFill>
            <a:srgbClr val="E28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Claude SL — 50% failures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94560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55B66"/>
                </a:solidFill>
                <a:latin typeface="Calibri"/>
              </a:rPr>
              <a:t>Mega-prompt fragility: unclosed brackets, trailing commas, mixed quote styles break JSON parsing.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5486400" cy="2286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137160" cy="2286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1148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GPT SL — 100% BDR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55B66"/>
                </a:solidFill>
                <a:latin typeface="Calibri"/>
              </a:rPr>
              <a:t>Flags every input as a bug. High recall, low precision — cannot discriminate benign from faulty diffs.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931920"/>
            <a:ext cx="5486400" cy="2286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0" y="3931920"/>
            <a:ext cx="137160" cy="2286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41148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Retry loop — essential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663440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55B66"/>
                </a:solidFill>
                <a:latin typeface="Calibri"/>
              </a:rPr>
              <a:t>Every run needed exactly one retry: Docker sandbox first-attempt errors reliably recovered by adjusted tests.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Calibri"/>
              </a:rPr>
              <a:t>ASQA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72800" cy="4206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874520"/>
            <a:ext cx="320040" cy="3200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182880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0B1F3A"/>
                </a:solidFill>
                <a:latin typeface="Calibri"/>
              </a:rPr>
              <a:t>Multi-agent decomposition works: 80% BDR, 100% completion.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97480"/>
            <a:ext cx="320040" cy="3200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63040" y="265176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0B1F3A"/>
                </a:solidFill>
                <a:latin typeface="Calibri"/>
              </a:rPr>
              <a:t>Heterogeneous model assignment outperforms any single model.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20440"/>
            <a:ext cx="320040" cy="3200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40" y="347472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0B1F3A"/>
                </a:solidFill>
                <a:latin typeface="Calibri"/>
              </a:rPr>
              <a:t>LangGraph conditional edges turn retries into a built-in reliability layer.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343400"/>
            <a:ext cx="320040" cy="3200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63040" y="429768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0B1F3A"/>
                </a:solidFill>
                <a:latin typeface="Calibri"/>
              </a:rPr>
              <a:t>Latency overhead (~3×) buys five rich artefacts per bug — worth it.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166360"/>
            <a:ext cx="320040" cy="3200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63040" y="51206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0B1F3A"/>
                </a:solidFill>
                <a:latin typeface="Calibri"/>
              </a:rPr>
              <a:t>Scope caveat: Python-only evaluation; Java &amp; SWE-bench are next.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943600"/>
            <a:ext cx="10972800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ASQA delivers autonomous QA that is measurable, reliable, and extensible.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</TotalTime>
  <Words>729</Words>
  <Application>Microsoft Macintosh PowerPoint</Application>
  <PresentationFormat>Widescreen</PresentationFormat>
  <Paragraphs>118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Gill Sans MT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Shruti Lette</cp:lastModifiedBy>
  <cp:revision>2</cp:revision>
  <dcterms:created xsi:type="dcterms:W3CDTF">2013-01-27T09:14:16Z</dcterms:created>
  <dcterms:modified xsi:type="dcterms:W3CDTF">2026-04-17T19:34:58Z</dcterms:modified>
  <cp:category/>
</cp:coreProperties>
</file>